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7" r:id="rId2"/>
    <p:sldMasterId id="2147483653" r:id="rId3"/>
  </p:sldMasterIdLst>
  <p:notesMasterIdLst>
    <p:notesMasterId r:id="rId5"/>
  </p:notesMasterIdLst>
  <p:handoutMasterIdLst>
    <p:handoutMasterId r:id="rId6"/>
  </p:handoutMasterIdLst>
  <p:sldIdLst>
    <p:sldId id="258" r:id="rId4"/>
  </p:sldIdLst>
  <p:sldSz cx="43891200" cy="32918400"/>
  <p:notesSz cx="6858000" cy="9144000"/>
  <p:defaultTextStyle>
    <a:defPPr>
      <a:defRPr lang="en-US"/>
    </a:defPPr>
    <a:lvl1pPr marL="0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451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8900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351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7801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252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6703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152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5603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8">
          <p15:clr>
            <a:srgbClr val="A4A3A4"/>
          </p15:clr>
        </p15:guide>
        <p15:guide id="2" orient="horz" pos="288">
          <p15:clr>
            <a:srgbClr val="A4A3A4"/>
          </p15:clr>
        </p15:guide>
        <p15:guide id="3" orient="horz" pos="20160">
          <p15:clr>
            <a:srgbClr val="A4A3A4"/>
          </p15:clr>
        </p15:guide>
        <p15:guide id="4" orient="horz">
          <p15:clr>
            <a:srgbClr val="A4A3A4"/>
          </p15:clr>
        </p15:guide>
        <p15:guide id="5" pos="581">
          <p15:clr>
            <a:srgbClr val="A4A3A4"/>
          </p15:clr>
        </p15:guide>
        <p15:guide id="6" pos="27069">
          <p15:clr>
            <a:srgbClr val="A4A3A4"/>
          </p15:clr>
        </p15:guide>
        <p15:guide id="7" orient="horz" pos="3298">
          <p15:clr>
            <a:srgbClr val="A4A3A4"/>
          </p15:clr>
        </p15:guide>
        <p15:guide id="8" orient="horz" pos="20735">
          <p15:clr>
            <a:srgbClr val="A4A3A4"/>
          </p15:clr>
        </p15:guide>
        <p15:guide id="9" pos="320">
          <p15:clr>
            <a:srgbClr val="A4A3A4"/>
          </p15:clr>
        </p15:guide>
        <p15:guide id="10" pos="27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.KOTOULAS" initials="AK" lastIdx="2" clrIdx="0"/>
  <p:cmAuthor id="1" name="A.KOTOULAS" initials="HELP" lastIdx="1" clrIdx="1"/>
  <p:cmAuthor id="2" name="A.KOTOULAS" initials="HELP - " lastIdx="1" clrIdx="2"/>
  <p:cmAuthor id="3" name="PosterPresentations.com - 510.649.3001" initials="HELP - 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5FA"/>
    <a:srgbClr val="CDD2DE"/>
    <a:srgbClr val="E3E9E5"/>
    <a:srgbClr val="EAEAE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94434" autoAdjust="0"/>
  </p:normalViewPr>
  <p:slideViewPr>
    <p:cSldViewPr snapToGrid="0" snapToObjects="1" showGuides="1">
      <p:cViewPr varScale="1">
        <p:scale>
          <a:sx n="12" d="100"/>
          <a:sy n="12" d="100"/>
        </p:scale>
        <p:origin x="1668" y="124"/>
      </p:cViewPr>
      <p:guideLst>
        <p:guide orient="horz" pos="3318"/>
        <p:guide orient="horz" pos="288"/>
        <p:guide orient="horz" pos="20160"/>
        <p:guide orient="horz"/>
        <p:guide pos="581"/>
        <p:guide pos="27069"/>
        <p:guide orient="horz" pos="3298"/>
        <p:guide orient="horz" pos="20735"/>
        <p:guide pos="320"/>
        <p:guide pos="276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8C5BC-9A70-462C-B28D-9600239EAC64}" type="datetimeFigureOut">
              <a:rPr lang="en-US" smtClean="0"/>
              <a:pPr/>
              <a:t>3/31/2021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131B7-05CA-4AEE-9267-6D0ED4DC8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682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C2317-6751-4CD4-9995-8782DD78E936}" type="datetimeFigureOut">
              <a:rPr lang="en-US" smtClean="0"/>
              <a:pPr/>
              <a:t>3/31/2021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1A87D-CAF7-4BDC-A0D3-C0DBEDE81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37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2194451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4388900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6583351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8777801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10972252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3166703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361152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555603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1A87D-CAF7-4BDC-A0D3-C0DBEDE8161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64442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91425" y="637848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09578" y="5548749"/>
            <a:ext cx="10048875" cy="754045"/>
          </a:xfrm>
          <a:prstGeom prst="rect">
            <a:avLst/>
          </a:prstGeom>
          <a:noFill/>
        </p:spPr>
        <p:txBody>
          <a:bodyPr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INTRODUCTION or ABSTRACT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509576" y="14212513"/>
            <a:ext cx="10050462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1460161" y="6378481"/>
            <a:ext cx="10048874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11460162" y="5548749"/>
            <a:ext cx="10048875" cy="754045"/>
          </a:xfrm>
          <a:prstGeom prst="rect">
            <a:avLst/>
          </a:prstGeom>
          <a:noFill/>
        </p:spPr>
        <p:txBody>
          <a:bodyPr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22385343" y="6378481"/>
            <a:ext cx="10048874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22377404" y="5548749"/>
            <a:ext cx="10058400" cy="754045"/>
          </a:xfrm>
          <a:prstGeom prst="rect">
            <a:avLst/>
          </a:prstGeom>
          <a:noFill/>
        </p:spPr>
        <p:txBody>
          <a:bodyPr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33358541" y="5548749"/>
            <a:ext cx="10047018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33358541" y="6378481"/>
            <a:ext cx="10047018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33358541" y="14272738"/>
            <a:ext cx="10047018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33358541" y="15011402"/>
            <a:ext cx="10052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33358541" y="25679401"/>
            <a:ext cx="10047018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ACKNOWLEDGEMENTS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33358541" y="26433446"/>
            <a:ext cx="10052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491425" y="14951552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77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5932593" y="3383947"/>
            <a:ext cx="31998968" cy="12801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affiliations</a:t>
            </a:r>
          </a:p>
        </p:txBody>
      </p:sp>
      <p:sp>
        <p:nvSpPr>
          <p:cNvPr id="78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5932593" y="2103787"/>
            <a:ext cx="31998968" cy="1280160"/>
          </a:xfrm>
          <a:prstGeom prst="rect">
            <a:avLst/>
          </a:prstGeom>
        </p:spPr>
        <p:txBody>
          <a:bodyPr anchor="t" anchorCtr="1">
            <a:normAutofit/>
          </a:bodyPr>
          <a:lstStyle>
            <a:lvl1pPr marL="0" indent="0" algn="ctr">
              <a:buFontTx/>
              <a:buNone/>
              <a:defRPr sz="88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79" name="Text Placeholder 76"/>
          <p:cNvSpPr>
            <a:spLocks noGrp="1"/>
          </p:cNvSpPr>
          <p:nvPr>
            <p:ph type="body" sz="quarter" idx="153" hasCustomPrompt="1"/>
          </p:nvPr>
        </p:nvSpPr>
        <p:spPr>
          <a:xfrm>
            <a:off x="5932593" y="465813"/>
            <a:ext cx="31998968" cy="1637973"/>
          </a:xfrm>
          <a:prstGeom prst="rect">
            <a:avLst/>
          </a:prstGeom>
        </p:spPr>
        <p:txBody>
          <a:bodyPr anchor="t" anchorCtr="1">
            <a:normAutofit/>
          </a:bodyPr>
          <a:lstStyle>
            <a:lvl1pPr marL="0" indent="0" algn="ctr">
              <a:buFontTx/>
              <a:buNone/>
              <a:defRPr sz="115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04186" y="6295353"/>
            <a:ext cx="13591277" cy="861752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6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22338" y="5431995"/>
            <a:ext cx="13573126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add) INTRODUCTION or ABSTRACT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22338" y="18240478"/>
            <a:ext cx="13592864" cy="861752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6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942080" y="17409229"/>
            <a:ext cx="13573125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add)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5154276" y="21595083"/>
            <a:ext cx="13571534" cy="861752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6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15154276" y="20739663"/>
            <a:ext cx="13571534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add)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15162215" y="6295353"/>
            <a:ext cx="13571534" cy="861752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6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5154277" y="5431995"/>
            <a:ext cx="13579475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add)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9395741" y="5431995"/>
            <a:ext cx="13576029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add)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29395741" y="6295353"/>
            <a:ext cx="13576029" cy="861752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6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29395741" y="17377122"/>
            <a:ext cx="13576029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tabLst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add)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29390710" y="18157350"/>
            <a:ext cx="13581061" cy="861752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6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29395741" y="25845657"/>
            <a:ext cx="13576029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add)  ACKNOWLEDGEMENTS 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29395742" y="26625887"/>
            <a:ext cx="13581061" cy="861752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60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4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5932593" y="3383947"/>
            <a:ext cx="31998968" cy="12801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affiliations</a:t>
            </a:r>
          </a:p>
        </p:txBody>
      </p:sp>
      <p:sp>
        <p:nvSpPr>
          <p:cNvPr id="65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5932593" y="2103787"/>
            <a:ext cx="31998968" cy="1280160"/>
          </a:xfrm>
          <a:prstGeom prst="rect">
            <a:avLst/>
          </a:prstGeom>
        </p:spPr>
        <p:txBody>
          <a:bodyPr anchor="t" anchorCtr="1">
            <a:normAutofit/>
          </a:bodyPr>
          <a:lstStyle>
            <a:lvl1pPr marL="0" indent="0" algn="ctr">
              <a:buFontTx/>
              <a:buNone/>
              <a:defRPr sz="88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66" name="Text Placeholder 76"/>
          <p:cNvSpPr>
            <a:spLocks noGrp="1"/>
          </p:cNvSpPr>
          <p:nvPr>
            <p:ph type="body" sz="quarter" idx="153" hasCustomPrompt="1"/>
          </p:nvPr>
        </p:nvSpPr>
        <p:spPr>
          <a:xfrm>
            <a:off x="5932593" y="465813"/>
            <a:ext cx="31998968" cy="1637973"/>
          </a:xfrm>
          <a:prstGeom prst="rect">
            <a:avLst/>
          </a:prstGeom>
        </p:spPr>
        <p:txBody>
          <a:bodyPr anchor="t" anchorCtr="1">
            <a:normAutofit/>
          </a:bodyPr>
          <a:lstStyle>
            <a:lvl1pPr marL="0" indent="0" algn="ctr">
              <a:buFontTx/>
              <a:buNone/>
              <a:defRPr sz="115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ent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04188" y="6212225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22341" y="5348867"/>
            <a:ext cx="10048875" cy="754045"/>
          </a:xfrm>
          <a:prstGeom prst="rect">
            <a:avLst/>
          </a:prstGeom>
          <a:noFill/>
        </p:spPr>
        <p:txBody>
          <a:bodyPr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add) INTRODUCTION or ABSTRACT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02598" y="15043762"/>
            <a:ext cx="1005840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922339" y="14212513"/>
            <a:ext cx="10050462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add)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1587163" y="6204287"/>
            <a:ext cx="20720048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11587164" y="5348867"/>
            <a:ext cx="20720050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(header)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11587164" y="21896538"/>
            <a:ext cx="20720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1587162" y="21074746"/>
            <a:ext cx="20720050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add)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32905536" y="5348867"/>
            <a:ext cx="10047018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add)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32905536" y="6212225"/>
            <a:ext cx="10047018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32905536" y="14272738"/>
            <a:ext cx="10047018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add)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32905536" y="15011402"/>
            <a:ext cx="10052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32905536" y="25669876"/>
            <a:ext cx="10047018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add)  ACKNOWLEDGEMENTS or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32905536" y="26436774"/>
            <a:ext cx="10052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Enter your text here</a:t>
            </a:r>
          </a:p>
        </p:txBody>
      </p:sp>
      <p:sp>
        <p:nvSpPr>
          <p:cNvPr id="64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5932593" y="3383947"/>
            <a:ext cx="31998968" cy="12801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affiliations</a:t>
            </a:r>
          </a:p>
        </p:txBody>
      </p:sp>
      <p:sp>
        <p:nvSpPr>
          <p:cNvPr id="65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5932593" y="2103787"/>
            <a:ext cx="31998968" cy="1280160"/>
          </a:xfrm>
          <a:prstGeom prst="rect">
            <a:avLst/>
          </a:prstGeom>
        </p:spPr>
        <p:txBody>
          <a:bodyPr anchor="t" anchorCtr="1">
            <a:normAutofit/>
          </a:bodyPr>
          <a:lstStyle>
            <a:lvl1pPr marL="0" indent="0" algn="ctr">
              <a:buFontTx/>
              <a:buNone/>
              <a:defRPr sz="88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66" name="Text Placeholder 76"/>
          <p:cNvSpPr>
            <a:spLocks noGrp="1"/>
          </p:cNvSpPr>
          <p:nvPr>
            <p:ph type="body" sz="quarter" idx="153" hasCustomPrompt="1"/>
          </p:nvPr>
        </p:nvSpPr>
        <p:spPr>
          <a:xfrm>
            <a:off x="5932593" y="465813"/>
            <a:ext cx="31998968" cy="1637973"/>
          </a:xfrm>
          <a:prstGeom prst="rect">
            <a:avLst/>
          </a:prstGeom>
        </p:spPr>
        <p:txBody>
          <a:bodyPr anchor="t" anchorCtr="1">
            <a:normAutofit/>
          </a:bodyPr>
          <a:lstStyle>
            <a:lvl1pPr marL="0" indent="0" algn="ctr">
              <a:buFontTx/>
              <a:buNone/>
              <a:defRPr sz="115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Click here to add title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5.wmf"/><Relationship Id="rId9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11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13" Type="http://schemas.openxmlformats.org/officeDocument/2006/relationships/image" Target="../media/image8.png"/><Relationship Id="rId14" Type="http://schemas.openxmlformats.org/officeDocument/2006/relationships/oleObject" Target="../embeddings/oleObject4.bin"/><Relationship Id="rId15" Type="http://schemas.openxmlformats.org/officeDocument/2006/relationships/image" Target="../media/image9.wmf"/><Relationship Id="rId16" Type="http://schemas.openxmlformats.org/officeDocument/2006/relationships/hyperlink" Target="http://www.facebook.com/pages/PosterPresentationscom/217914411419?v=app_4949752878&amp;ref=ts" TargetMode="External"/><Relationship Id="rId17" Type="http://schemas.openxmlformats.org/officeDocument/2006/relationships/image" Target="../media/image10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7.wmf"/><Relationship Id="rId5" Type="http://schemas.openxmlformats.org/officeDocument/2006/relationships/image" Target="../media/image8.png"/><Relationship Id="rId6" Type="http://schemas.openxmlformats.org/officeDocument/2006/relationships/oleObject" Target="../embeddings/oleObject6.bin"/><Relationship Id="rId7" Type="http://schemas.openxmlformats.org/officeDocument/2006/relationships/image" Target="../media/image9.wmf"/><Relationship Id="rId8" Type="http://schemas.openxmlformats.org/officeDocument/2006/relationships/hyperlink" Target="http://www.facebook.com/pages/PosterPresentationscom/217914411419?v=app_4949752878&amp;ref=ts" TargetMode="External"/><Relationship Id="rId9" Type="http://schemas.openxmlformats.org/officeDocument/2006/relationships/image" Target="../media/image10.jpeg"/><Relationship Id="rId10" Type="http://schemas.openxmlformats.org/officeDocument/2006/relationships/image" Target="../media/image1.png"/><Relationship Id="rId11" Type="http://schemas.openxmlformats.org/officeDocument/2006/relationships/image" Target="../media/image2.png"/><Relationship Id="rId12" Type="http://schemas.openxmlformats.org/officeDocument/2006/relationships/image" Target="../media/image3.png"/><Relationship Id="rId13" Type="http://schemas.openxmlformats.org/officeDocument/2006/relationships/image" Target="../media/image4.png"/><Relationship Id="rId14" Type="http://schemas.openxmlformats.org/officeDocument/2006/relationships/oleObject" Target="../embeddings/oleObject7.bin"/><Relationship Id="rId15" Type="http://schemas.openxmlformats.org/officeDocument/2006/relationships/image" Target="../media/image5.wmf"/><Relationship Id="rId16" Type="http://schemas.openxmlformats.org/officeDocument/2006/relationships/oleObject" Target="../embeddings/oleObject8.bin"/><Relationship Id="rId17" Type="http://schemas.openxmlformats.org/officeDocument/2006/relationships/image" Target="../media/image6.w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7.wmf"/><Relationship Id="rId5" Type="http://schemas.openxmlformats.org/officeDocument/2006/relationships/image" Target="../media/image8.png"/><Relationship Id="rId6" Type="http://schemas.openxmlformats.org/officeDocument/2006/relationships/oleObject" Target="../embeddings/oleObject10.bin"/><Relationship Id="rId7" Type="http://schemas.openxmlformats.org/officeDocument/2006/relationships/image" Target="../media/image9.wmf"/><Relationship Id="rId8" Type="http://schemas.openxmlformats.org/officeDocument/2006/relationships/hyperlink" Target="http://www.facebook.com/pages/PosterPresentationscom/217914411419?v=app_4949752878&amp;ref=ts" TargetMode="External"/><Relationship Id="rId9" Type="http://schemas.openxmlformats.org/officeDocument/2006/relationships/image" Target="../media/image10.jpeg"/><Relationship Id="rId10" Type="http://schemas.openxmlformats.org/officeDocument/2006/relationships/image" Target="../media/image1.png"/><Relationship Id="rId11" Type="http://schemas.openxmlformats.org/officeDocument/2006/relationships/image" Target="../media/image2.png"/><Relationship Id="rId12" Type="http://schemas.openxmlformats.org/officeDocument/2006/relationships/image" Target="../media/image3.png"/><Relationship Id="rId13" Type="http://schemas.openxmlformats.org/officeDocument/2006/relationships/image" Target="../media/image4.png"/><Relationship Id="rId14" Type="http://schemas.openxmlformats.org/officeDocument/2006/relationships/oleObject" Target="../embeddings/oleObject11.bin"/><Relationship Id="rId15" Type="http://schemas.openxmlformats.org/officeDocument/2006/relationships/image" Target="../media/image5.wmf"/><Relationship Id="rId16" Type="http://schemas.openxmlformats.org/officeDocument/2006/relationships/oleObject" Target="../embeddings/oleObject12.bin"/><Relationship Id="rId17" Type="http://schemas.openxmlformats.org/officeDocument/2006/relationships/image" Target="../media/image6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34000">
              <a:schemeClr val="tx2">
                <a:lumMod val="40000"/>
                <a:lumOff val="60000"/>
              </a:schemeClr>
            </a:gs>
            <a:gs pos="100000">
              <a:schemeClr val="accent5">
                <a:lumMod val="20000"/>
                <a:lumOff val="8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0"/>
            <a:ext cx="43891200" cy="480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4800600"/>
            <a:ext cx="438912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Rounded Rectangle 1"/>
          <p:cNvSpPr/>
          <p:nvPr userDrawn="1"/>
        </p:nvSpPr>
        <p:spPr>
          <a:xfrm>
            <a:off x="477824" y="5475145"/>
            <a:ext cx="10058400" cy="26736675"/>
          </a:xfrm>
          <a:prstGeom prst="roundRect">
            <a:avLst>
              <a:gd name="adj" fmla="val 4178"/>
            </a:avLst>
          </a:prstGeom>
          <a:gradFill>
            <a:gsLst>
              <a:gs pos="0">
                <a:srgbClr val="CDD2DE"/>
              </a:gs>
              <a:gs pos="0">
                <a:srgbClr val="CDD2DE"/>
              </a:gs>
              <a:gs pos="100000">
                <a:srgbClr val="F3F5FA"/>
              </a:gs>
            </a:gsLst>
            <a:lin ang="16200000" scaled="1"/>
          </a:gradFill>
          <a:ln>
            <a:solidFill>
              <a:schemeClr val="accent5">
                <a:lumMod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 userDrawn="1"/>
        </p:nvSpPr>
        <p:spPr>
          <a:xfrm>
            <a:off x="11439521" y="5475145"/>
            <a:ext cx="10058400" cy="26736675"/>
          </a:xfrm>
          <a:prstGeom prst="roundRect">
            <a:avLst>
              <a:gd name="adj" fmla="val 4494"/>
            </a:avLst>
          </a:prstGeom>
          <a:gradFill>
            <a:gsLst>
              <a:gs pos="0">
                <a:srgbClr val="CDD2DE"/>
              </a:gs>
              <a:gs pos="0">
                <a:srgbClr val="CDD2DE"/>
              </a:gs>
              <a:gs pos="100000">
                <a:srgbClr val="F3F5FA"/>
              </a:gs>
            </a:gsLst>
            <a:lin ang="16200000" scaled="1"/>
          </a:gradFill>
          <a:ln>
            <a:solidFill>
              <a:schemeClr val="accent5">
                <a:lumMod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 userDrawn="1"/>
        </p:nvSpPr>
        <p:spPr>
          <a:xfrm>
            <a:off x="22401218" y="5475145"/>
            <a:ext cx="10058400" cy="26736675"/>
          </a:xfrm>
          <a:prstGeom prst="roundRect">
            <a:avLst>
              <a:gd name="adj" fmla="val 4810"/>
            </a:avLst>
          </a:prstGeom>
          <a:gradFill>
            <a:gsLst>
              <a:gs pos="0">
                <a:srgbClr val="CDD2DE"/>
              </a:gs>
              <a:gs pos="0">
                <a:srgbClr val="CDD2DE"/>
              </a:gs>
              <a:gs pos="100000">
                <a:srgbClr val="F3F5FA"/>
              </a:gs>
            </a:gsLst>
            <a:lin ang="16200000" scaled="1"/>
          </a:gradFill>
          <a:ln>
            <a:solidFill>
              <a:schemeClr val="accent5">
                <a:lumMod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 userDrawn="1"/>
        </p:nvSpPr>
        <p:spPr>
          <a:xfrm>
            <a:off x="33362914" y="5475145"/>
            <a:ext cx="10058400" cy="26736675"/>
          </a:xfrm>
          <a:prstGeom prst="roundRect">
            <a:avLst>
              <a:gd name="adj" fmla="val 3863"/>
            </a:avLst>
          </a:prstGeom>
          <a:gradFill>
            <a:gsLst>
              <a:gs pos="0">
                <a:srgbClr val="CDD2DE"/>
              </a:gs>
              <a:gs pos="0">
                <a:srgbClr val="CDD2DE"/>
              </a:gs>
              <a:gs pos="100000">
                <a:srgbClr val="F3F5FA"/>
              </a:gs>
            </a:gsLst>
            <a:lin ang="16200000" scaled="1"/>
          </a:gradFill>
          <a:ln>
            <a:solidFill>
              <a:schemeClr val="accent5">
                <a:lumMod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4388900" rtl="0" eaLnBrk="1" latinLnBrk="0" hangingPunct="1">
        <a:spcBef>
          <a:spcPct val="0"/>
        </a:spcBef>
        <a:buNone/>
        <a:defRPr sz="88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645838" indent="-1645838" algn="l" defTabSz="438890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5982" indent="-1371531" algn="l" defTabSz="4388900" rtl="0" eaLnBrk="1" latinLnBrk="0" hangingPunct="1">
        <a:spcBef>
          <a:spcPct val="20000"/>
        </a:spcBef>
        <a:buFont typeface="Arial" pitchFamily="34" charset="0"/>
        <a:buChar char="–"/>
        <a:defRPr sz="13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1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11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577" indent="-1097226" algn="l" defTabSz="438890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026" indent="-1097226" algn="l" defTabSz="438890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4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39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3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282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4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890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3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780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2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67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1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56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34000">
              <a:schemeClr val="tx2">
                <a:lumMod val="40000"/>
                <a:lumOff val="60000"/>
              </a:schemeClr>
            </a:gs>
            <a:gs pos="100000">
              <a:schemeClr val="accent5">
                <a:lumMod val="20000"/>
                <a:lumOff val="8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0"/>
            <a:ext cx="43891200" cy="480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4805363"/>
            <a:ext cx="43891200" cy="1524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-13946601" y="11526118"/>
            <a:ext cx="13577436" cy="818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 userDrawn="1"/>
        </p:nvSpPr>
        <p:spPr>
          <a:xfrm>
            <a:off x="922338" y="5392017"/>
            <a:ext cx="13577436" cy="26736675"/>
          </a:xfrm>
          <a:prstGeom prst="roundRect">
            <a:avLst>
              <a:gd name="adj" fmla="val 3290"/>
            </a:avLst>
          </a:prstGeom>
          <a:gradFill>
            <a:gsLst>
              <a:gs pos="0">
                <a:srgbClr val="CDD2DE"/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rgbClr val="F3F5FA"/>
              </a:gs>
            </a:gsLst>
            <a:lin ang="16200000" scaled="1"/>
          </a:gradFill>
          <a:ln>
            <a:solidFill>
              <a:schemeClr val="accent5">
                <a:lumMod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 userDrawn="1"/>
        </p:nvSpPr>
        <p:spPr>
          <a:xfrm>
            <a:off x="15154504" y="5392017"/>
            <a:ext cx="13577436" cy="26736675"/>
          </a:xfrm>
          <a:prstGeom prst="roundRect">
            <a:avLst>
              <a:gd name="adj" fmla="val 3524"/>
            </a:avLst>
          </a:prstGeom>
          <a:gradFill>
            <a:gsLst>
              <a:gs pos="0">
                <a:srgbClr val="CDD2DE"/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rgbClr val="F3F5FA"/>
              </a:gs>
            </a:gsLst>
            <a:lin ang="16200000" scaled="1"/>
          </a:gradFill>
          <a:ln>
            <a:solidFill>
              <a:schemeClr val="accent5">
                <a:lumMod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 userDrawn="1"/>
        </p:nvSpPr>
        <p:spPr>
          <a:xfrm>
            <a:off x="29386670" y="5392017"/>
            <a:ext cx="13577436" cy="26736675"/>
          </a:xfrm>
          <a:prstGeom prst="roundRect">
            <a:avLst>
              <a:gd name="adj" fmla="val 3290"/>
            </a:avLst>
          </a:prstGeom>
          <a:gradFill>
            <a:gsLst>
              <a:gs pos="0">
                <a:srgbClr val="CDD2DE"/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rgbClr val="F3F5FA"/>
              </a:gs>
            </a:gsLst>
            <a:lin ang="16200000" scaled="1"/>
          </a:gradFill>
          <a:ln>
            <a:solidFill>
              <a:schemeClr val="accent5">
                <a:lumMod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388900" rtl="0" eaLnBrk="1" latinLnBrk="0" hangingPunct="1">
        <a:spcBef>
          <a:spcPct val="0"/>
        </a:spcBef>
        <a:buNone/>
        <a:defRPr sz="88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645838" indent="-1645838" algn="l" defTabSz="438890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5982" indent="-1371531" algn="l" defTabSz="4388900" rtl="0" eaLnBrk="1" latinLnBrk="0" hangingPunct="1">
        <a:spcBef>
          <a:spcPct val="20000"/>
        </a:spcBef>
        <a:buFont typeface="Arial" pitchFamily="34" charset="0"/>
        <a:buChar char="–"/>
        <a:defRPr sz="13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1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11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577" indent="-1097226" algn="l" defTabSz="438890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026" indent="-1097226" algn="l" defTabSz="438890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4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39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3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282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4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890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3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780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2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67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1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56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34000">
              <a:schemeClr val="tx2">
                <a:lumMod val="40000"/>
                <a:lumOff val="60000"/>
              </a:schemeClr>
            </a:gs>
            <a:gs pos="100000">
              <a:schemeClr val="accent5">
                <a:lumMod val="20000"/>
                <a:lumOff val="8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0"/>
            <a:ext cx="43891200" cy="480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4805363"/>
            <a:ext cx="43891200" cy="1524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Rounded Rectangle 20"/>
          <p:cNvSpPr/>
          <p:nvPr userDrawn="1"/>
        </p:nvSpPr>
        <p:spPr>
          <a:xfrm>
            <a:off x="922338" y="5257800"/>
            <a:ext cx="10050462" cy="26736675"/>
          </a:xfrm>
          <a:prstGeom prst="roundRect">
            <a:avLst>
              <a:gd name="adj" fmla="val 5862"/>
            </a:avLst>
          </a:prstGeom>
          <a:gradFill>
            <a:gsLst>
              <a:gs pos="0">
                <a:srgbClr val="CDD2DE"/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rgbClr val="F3F5FA"/>
              </a:gs>
            </a:gsLst>
            <a:lin ang="16200000" scaled="1"/>
          </a:gradFill>
          <a:ln>
            <a:solidFill>
              <a:schemeClr val="accent5">
                <a:lumMod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 userDrawn="1"/>
        </p:nvSpPr>
        <p:spPr>
          <a:xfrm>
            <a:off x="32918400" y="5257800"/>
            <a:ext cx="10050462" cy="26736675"/>
          </a:xfrm>
          <a:prstGeom prst="roundRect">
            <a:avLst>
              <a:gd name="adj" fmla="val 5862"/>
            </a:avLst>
          </a:prstGeom>
          <a:gradFill>
            <a:gsLst>
              <a:gs pos="0">
                <a:srgbClr val="CDD2DE"/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rgbClr val="F3F5FA"/>
              </a:gs>
            </a:gsLst>
            <a:lin ang="16200000" scaled="1"/>
          </a:gradFill>
          <a:ln>
            <a:solidFill>
              <a:schemeClr val="accent5">
                <a:lumMod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 userDrawn="1"/>
        </p:nvSpPr>
        <p:spPr>
          <a:xfrm>
            <a:off x="11583194" y="5267325"/>
            <a:ext cx="20724813" cy="26736675"/>
          </a:xfrm>
          <a:prstGeom prst="roundRect">
            <a:avLst>
              <a:gd name="adj" fmla="val 2853"/>
            </a:avLst>
          </a:prstGeom>
          <a:gradFill>
            <a:gsLst>
              <a:gs pos="0">
                <a:srgbClr val="CDD2DE"/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rgbClr val="F3F5FA"/>
              </a:gs>
            </a:gsLst>
            <a:lin ang="16200000" scaled="1"/>
          </a:gradFill>
          <a:ln>
            <a:solidFill>
              <a:schemeClr val="accent5">
                <a:lumMod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4388900" rtl="0" eaLnBrk="1" latinLnBrk="0" hangingPunct="1">
        <a:spcBef>
          <a:spcPct val="0"/>
        </a:spcBef>
        <a:buNone/>
        <a:defRPr sz="88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645838" indent="-1645838" algn="l" defTabSz="438890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5982" indent="-1371531" algn="l" defTabSz="4388900" rtl="0" eaLnBrk="1" latinLnBrk="0" hangingPunct="1">
        <a:spcBef>
          <a:spcPct val="20000"/>
        </a:spcBef>
        <a:buFont typeface="Arial" pitchFamily="34" charset="0"/>
        <a:buChar char="–"/>
        <a:defRPr sz="13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1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11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577" indent="-1097226" algn="l" defTabSz="438890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026" indent="-1097226" algn="l" defTabSz="438890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4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39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3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282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4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890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3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780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2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67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1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56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50"/>
          </p:nvPr>
        </p:nvSpPr>
        <p:spPr>
          <a:xfrm>
            <a:off x="457200" y="1508760"/>
            <a:ext cx="42976800" cy="1828800"/>
          </a:xfrm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  <a:cs typeface="Arial"/>
              </a:rPr>
              <a:t>Clustering and Time Series Forecasting  |  CA1 — Machine Learning for Business</a:t>
            </a:r>
          </a:p>
          <a:p>
            <a:pPr algn="ctr"/>
            <a:r>
              <a:rPr sz="3000" b="0" i="0">
                <a:solidFill>
                  <a:srgbClr val="FFFFFF"/>
                </a:solidFill>
                <a:latin typeface="Arial"/>
                <a:cs typeface="Arial"/>
              </a:rPr>
              <a:t>Gleiciane Rocha  |  Student number: 2026248  |  CCT College Dublin  |  May–October 2025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53"/>
          </p:nvPr>
        </p:nvSpPr>
        <p:spPr>
          <a:xfrm>
            <a:off x="457200" y="274320"/>
            <a:ext cx="42976800" cy="1188720"/>
          </a:xfrm>
        </p:spPr>
        <p:txBody>
          <a:bodyPr wrap="square"/>
          <a:lstStyle/>
          <a:p>
            <a:pPr algn="ctr"/>
            <a:r>
              <a:rPr sz="6400" b="1" i="0" cap="small">
                <a:solidFill>
                  <a:srgbClr val="FFFFFF"/>
                </a:solidFill>
                <a:latin typeface="Arial"/>
                <a:cs typeface="Arial"/>
              </a:rPr>
              <a:t>Dublin Bikes: Station Profiles and Daily Availability</a:t>
            </a:r>
          </a:p>
        </p:txBody>
      </p:sp>
      <p:sp>
        <p:nvSpPr>
          <p:cNvPr id="19" name="Main finding"/>
          <p:cNvSpPr/>
          <p:nvPr/>
        </p:nvSpPr>
        <p:spPr>
          <a:xfrm>
            <a:off x="4572000" y="3383280"/>
            <a:ext cx="34747200" cy="1005840"/>
          </a:xfrm>
          <a:prstGeom prst="roundRect">
            <a:avLst>
              <a:gd name="adj" fmla="val 20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 i="0">
                <a:solidFill>
                  <a:schemeClr val="tx2"/>
                </a:solidFill>
                <a:latin typeface="Arial"/>
                <a:cs typeface="Arial"/>
              </a:rPr>
              <a:t>Main finding: </a:t>
            </a:r>
            <a:r>
              <a:rPr sz="3200" b="0" i="0">
                <a:solidFill>
                  <a:schemeClr val="tx2"/>
                </a:solidFill>
                <a:latin typeface="Arial"/>
                <a:cs typeface="Arial"/>
              </a:rPr>
              <a:t>K-Medoids with 7 clusters gave useful station profiles, while the simple mean baseline gave the best forecasts.</a:t>
            </a:r>
          </a:p>
        </p:txBody>
      </p:sp>
      <p:sp>
        <p:nvSpPr>
          <p:cNvPr id="20" name="Heading Why I chose this top"/>
          <p:cNvSpPr txBox="1"/>
          <p:nvPr/>
        </p:nvSpPr>
        <p:spPr>
          <a:xfrm>
            <a:off x="777240" y="5806440"/>
            <a:ext cx="9418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600" b="1" i="0" u="sng">
                <a:solidFill>
                  <a:schemeClr val="tx2"/>
                </a:solidFill>
                <a:latin typeface="Arial"/>
                <a:cs typeface="Arial"/>
              </a:rPr>
              <a:t>WHY I CHOSE THIS TOPIC</a:t>
            </a:r>
          </a:p>
        </p:txBody>
      </p:sp>
      <p:sp>
        <p:nvSpPr>
          <p:cNvPr id="21" name="Text I chose Dublin Bikes"/>
          <p:cNvSpPr txBox="1"/>
          <p:nvPr/>
        </p:nvSpPr>
        <p:spPr>
          <a:xfrm>
            <a:off x="777240" y="6675120"/>
            <a:ext cx="9418320" cy="170891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I chose Dublin Bikes, an urban transport service, because availability matters at both ends of a trip: riders need a bike to start and a free dock to finish. Stations with very few bikes or free docks may need attention.</a:t>
            </a:r>
          </a:p>
        </p:txBody>
      </p:sp>
      <p:sp>
        <p:nvSpPr>
          <p:cNvPr id="22" name="Text This project has two"/>
          <p:cNvSpPr txBox="1"/>
          <p:nvPr/>
        </p:nvSpPr>
        <p:spPr>
          <a:xfrm>
            <a:off x="777240" y="8384032"/>
            <a:ext cx="9418320" cy="46101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This project has two aims:</a:t>
            </a:r>
          </a:p>
        </p:txBody>
      </p:sp>
      <p:sp>
        <p:nvSpPr>
          <p:cNvPr id="23" name="Item"/>
          <p:cNvSpPr txBox="1"/>
          <p:nvPr/>
        </p:nvSpPr>
        <p:spPr>
          <a:xfrm>
            <a:off x="777240" y="8845042"/>
            <a:ext cx="9418320" cy="4645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marL="411480" indent="-411480">
              <a:tabLst>
                <a:tab pos="411480" algn="l"/>
              </a:tabLst>
            </a:pPr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1.	Group stations by availability and capacity.</a:t>
            </a:r>
          </a:p>
        </p:txBody>
      </p:sp>
      <p:sp>
        <p:nvSpPr>
          <p:cNvPr id="24" name="Item"/>
          <p:cNvSpPr txBox="1"/>
          <p:nvPr/>
        </p:nvSpPr>
        <p:spPr>
          <a:xfrm>
            <a:off x="777240" y="9309608"/>
            <a:ext cx="9418320" cy="4645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marL="411480" indent="-411480">
              <a:tabLst>
                <a:tab pos="411480" algn="l"/>
              </a:tabLst>
            </a:pPr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2.	Test whether daily average availability can be forecast.</a:t>
            </a:r>
          </a:p>
        </p:txBody>
      </p:sp>
      <p:sp>
        <p:nvSpPr>
          <p:cNvPr id="25" name="Text Availability does no"/>
          <p:cNvSpPr txBox="1"/>
          <p:nvPr/>
        </p:nvSpPr>
        <p:spPr>
          <a:xfrm>
            <a:off x="777240" y="9774174"/>
            <a:ext cx="9418320" cy="54991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Availability does not show how many trips people made.</a:t>
            </a:r>
          </a:p>
        </p:txBody>
      </p:sp>
      <p:sp>
        <p:nvSpPr>
          <p:cNvPr id="26" name="Heading Data and preparation"/>
          <p:cNvSpPr txBox="1"/>
          <p:nvPr/>
        </p:nvSpPr>
        <p:spPr>
          <a:xfrm>
            <a:off x="777240" y="10598404"/>
            <a:ext cx="9418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600" b="1" i="0" u="sng">
                <a:solidFill>
                  <a:schemeClr val="tx2"/>
                </a:solidFill>
                <a:latin typeface="Arial"/>
                <a:cs typeface="Arial"/>
              </a:rPr>
              <a:t>DATA AND PREPARATION</a:t>
            </a:r>
          </a:p>
        </p:txBody>
      </p:sp>
      <p:sp>
        <p:nvSpPr>
          <p:cNvPr id="27" name="Text I combined six month"/>
          <p:cNvSpPr txBox="1"/>
          <p:nvPr/>
        </p:nvSpPr>
        <p:spPr>
          <a:xfrm>
            <a:off x="777240" y="11467084"/>
            <a:ext cx="9418320" cy="1322577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I combined six monthly CSV files for May–October 2025 from Dublin City Council / Smart Dublin (Dublin City Council, n.d.; pandas, 2026), under a CC BY 4.0 licence.</a:t>
            </a:r>
          </a:p>
        </p:txBody>
      </p:sp>
      <p:sp>
        <p:nvSpPr>
          <p:cNvPr id="28" name="Text I removed four const"/>
          <p:cNvSpPr txBox="1"/>
          <p:nvPr/>
        </p:nvSpPr>
        <p:spPr>
          <a:xfrm>
            <a:off x="777240" y="12789662"/>
            <a:ext cx="9418320" cy="170891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I removed four constant columns and added total availability, leaving 12 columns. Station 51 was removed because it kept reporting 0 bikes and 0 docks despite a capacity of 40. Other 0/0 records were treated as offline or missing.</a:t>
            </a:r>
          </a:p>
        </p:txBody>
      </p:sp>
      <p:sp>
        <p:nvSpPr>
          <p:cNvPr id="29" name="Heading Clustering: methods "/>
          <p:cNvSpPr txBox="1"/>
          <p:nvPr/>
        </p:nvSpPr>
        <p:spPr>
          <a:xfrm>
            <a:off x="777240" y="14772894"/>
            <a:ext cx="9418320" cy="655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400" b="1" i="0" u="sng">
                <a:solidFill>
                  <a:schemeClr val="tx2"/>
                </a:solidFill>
                <a:latin typeface="Arial"/>
                <a:cs typeface="Arial"/>
              </a:rPr>
              <a:t>CLUSTERING: METHODS AND SCORES</a:t>
            </a:r>
          </a:p>
        </p:txBody>
      </p:sp>
      <p:sp>
        <p:nvSpPr>
          <p:cNvPr id="30" name="Text DBSCAN groups statio"/>
          <p:cNvSpPr txBox="1"/>
          <p:nvPr/>
        </p:nvSpPr>
        <p:spPr>
          <a:xfrm>
            <a:off x="777240" y="15611094"/>
            <a:ext cx="9418320" cy="1322577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DBSCAN groups stations by density and can label some as noise (scikit-learn developers, n.d.a). I tested two settings of </a:t>
            </a:r>
            <a:r>
              <a:rPr sz="2600" b="0" i="0">
                <a:solidFill>
                  <a:schemeClr val="tx1"/>
                </a:solidFill>
                <a:latin typeface="Courier New"/>
                <a:cs typeface="Arial"/>
              </a:rPr>
              <a:t>eps</a:t>
            </a:r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 and </a:t>
            </a:r>
            <a:r>
              <a:rPr sz="2600" b="0" i="0">
                <a:solidFill>
                  <a:schemeClr val="tx1"/>
                </a:solidFill>
                <a:latin typeface="Courier New"/>
                <a:cs typeface="Arial"/>
              </a:rPr>
              <a:t>min_samples</a:t>
            </a:r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 (Table 1).</a:t>
            </a:r>
          </a:p>
        </p:txBody>
      </p:sp>
      <p:sp>
        <p:nvSpPr>
          <p:cNvPr id="31" name="Text K-Medoids builds a f"/>
          <p:cNvSpPr txBox="1"/>
          <p:nvPr/>
        </p:nvSpPr>
        <p:spPr>
          <a:xfrm>
            <a:off x="777240" y="16933672"/>
            <a:ext cx="9418320" cy="93624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K-Medoids builds a fixed number of groups around real stations, the medoids (Iqbal, 2026c; Novikov, 2019).</a:t>
            </a:r>
          </a:p>
        </p:txBody>
      </p:sp>
      <p:sp>
        <p:nvSpPr>
          <p:cNvPr id="32" name="Sub Silhouette Score and"/>
          <p:cNvSpPr txBox="1"/>
          <p:nvPr/>
        </p:nvSpPr>
        <p:spPr>
          <a:xfrm>
            <a:off x="777240" y="17869916"/>
            <a:ext cx="9418320" cy="4724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800" b="0" i="1" u="sng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Silhouette Score and Davies–Bouldin Index</a:t>
            </a:r>
          </a:p>
        </p:txBody>
      </p:sp>
      <p:sp>
        <p:nvSpPr>
          <p:cNvPr id="33" name="Text Silhouette shows how"/>
          <p:cNvSpPr txBox="1"/>
          <p:nvPr/>
        </p:nvSpPr>
        <p:spPr>
          <a:xfrm>
            <a:off x="777240" y="18415508"/>
            <a:ext cx="9418320" cy="170891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Silhouette shows how well a station fits its own cluster versus the nearest other one (higher is better). Davies–Bouldin compares spread within clusters with distance between them (lower is better) (scikit-learn developers, n.d.b, n.d.c).</a:t>
            </a:r>
          </a:p>
        </p:txBody>
      </p:sp>
      <p:sp>
        <p:nvSpPr>
          <p:cNvPr id="34" name="Text K-Medoids k=7 beat k"/>
          <p:cNvSpPr txBox="1"/>
          <p:nvPr/>
        </p:nvSpPr>
        <p:spPr>
          <a:xfrm>
            <a:off x="777240" y="20124420"/>
            <a:ext cx="9418320" cy="170891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K-Medoids k=7 beat k=3 on both measures (Table 1). DBSCAN with </a:t>
            </a:r>
            <a:r>
              <a:rPr sz="2600" b="0" i="0">
                <a:solidFill>
                  <a:schemeClr val="tx1"/>
                </a:solidFill>
                <a:latin typeface="Courier New"/>
                <a:cs typeface="Arial"/>
              </a:rPr>
              <a:t>eps=0.2</a:t>
            </a:r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 scored better, but only on its own subset, with 22 noise stations, so the scores are not directly comparable.</a:t>
            </a:r>
          </a:p>
        </p:txBody>
      </p:sp>
      <p:sp>
        <p:nvSpPr>
          <p:cNvPr id="35" name="Sub Why I chose K-Medoid"/>
          <p:cNvSpPr txBox="1"/>
          <p:nvPr/>
        </p:nvSpPr>
        <p:spPr>
          <a:xfrm>
            <a:off x="777240" y="21833332"/>
            <a:ext cx="9418320" cy="4724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800" b="0" i="1" u="sng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Why I chose K-Medoids with k=7</a:t>
            </a:r>
          </a:p>
        </p:txBody>
      </p:sp>
      <p:sp>
        <p:nvSpPr>
          <p:cNvPr id="36" name="Text All 114 stations rec"/>
          <p:cNvSpPr txBox="1"/>
          <p:nvPr/>
        </p:nvSpPr>
        <p:spPr>
          <a:xfrm>
            <a:off x="777240" y="22378924"/>
            <a:ext cx="9418320" cy="1322577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All 114 stations received a label and the groups were easier to describe, although the result changed with the starting medoids.</a:t>
            </a:r>
          </a:p>
        </p:txBody>
      </p:sp>
      <p:sp>
        <p:nvSpPr>
          <p:cNvPr id="37" name="Table 1. caption"/>
          <p:cNvSpPr txBox="1"/>
          <p:nvPr/>
        </p:nvSpPr>
        <p:spPr>
          <a:xfrm>
            <a:off x="777240" y="23701502"/>
            <a:ext cx="9418320" cy="42976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400" b="1" i="0">
                <a:solidFill>
                  <a:schemeClr val="tx1"/>
                </a:solidFill>
                <a:latin typeface="Arial"/>
                <a:cs typeface="Arial"/>
              </a:rPr>
              <a:t>Table 1. </a:t>
            </a:r>
            <a:r>
              <a:rPr sz="2400" b="0" i="0">
                <a:solidFill>
                  <a:schemeClr val="tx1"/>
                </a:solidFill>
                <a:latin typeface="Arial"/>
                <a:cs typeface="Arial"/>
              </a:rPr>
              <a:t>Clustering results by method (K-Medoids k=7 highlighted).</a:t>
            </a:r>
          </a:p>
        </p:txBody>
      </p:sp>
      <p:graphicFrame>
        <p:nvGraphicFramePr>
          <p:cNvPr id="38" name="Table 1."/>
          <p:cNvGraphicFramePr>
            <a:graphicFrameLocks noGrp="1"/>
          </p:cNvGraphicFramePr>
          <p:nvPr/>
        </p:nvGraphicFramePr>
        <p:xfrm>
          <a:off x="777240" y="24176990"/>
          <a:ext cx="9418320" cy="28346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1371600"/>
                <a:gridCol w="1097280"/>
                <a:gridCol w="1645920"/>
                <a:gridCol w="2560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Method / settings</a:t>
                      </a:r>
                    </a:p>
                  </a:txBody>
                  <a:tcPr anchor="ctr" marL="91440" marR="91440" marT="27432" marB="27432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Clusters</a:t>
                      </a:r>
                    </a:p>
                  </a:txBody>
                  <a:tcPr anchor="ctr" marL="91440" marR="91440" marT="27432" marB="27432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Noise</a:t>
                      </a:r>
                    </a:p>
                  </a:txBody>
                  <a:tcPr anchor="ctr" marL="91440" marR="91440" marT="27432" marB="27432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Silhouette</a:t>
                      </a:r>
                    </a:p>
                  </a:txBody>
                  <a:tcPr anchor="ctr" marL="91440" marR="91440" marT="27432" marB="27432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Davies–Bouldin</a:t>
                      </a:r>
                    </a:p>
                  </a:txBody>
                  <a:tcPr anchor="ctr" marL="91440" marR="91440" marT="27432" marB="27432"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DBSCAN 0.2 / 2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18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22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0.569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0.417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DBSCAN 0.5 / 5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17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0.495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0.857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K-Medoids k=3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0.431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0.862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K-Medoids k=7</a:t>
                      </a:r>
                    </a:p>
                  </a:txBody>
                  <a:tcPr anchor="ctr" marL="91440" marR="91440" marT="27432" marB="27432">
                    <a:solidFill>
                      <a:srgbClr val="D9F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7</a:t>
                      </a:r>
                    </a:p>
                  </a:txBody>
                  <a:tcPr anchor="ctr" marL="91440" marR="91440" marT="27432" marB="27432">
                    <a:solidFill>
                      <a:srgbClr val="D9F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 marL="91440" marR="91440" marT="27432" marB="27432">
                    <a:solidFill>
                      <a:srgbClr val="D9F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0.541</a:t>
                      </a:r>
                    </a:p>
                  </a:txBody>
                  <a:tcPr anchor="ctr" marL="91440" marR="91440" marT="27432" marB="27432">
                    <a:solidFill>
                      <a:srgbClr val="D9F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0.543</a:t>
                      </a:r>
                    </a:p>
                  </a:txBody>
                  <a:tcPr anchor="ctr" marL="91440" marR="91440" marT="27432" marB="27432">
                    <a:solidFill>
                      <a:srgbClr val="D9F0C0"/>
                    </a:solidFill>
                  </a:tcPr>
                </a:tc>
              </a:tr>
            </a:tbl>
          </a:graphicData>
        </a:graphic>
      </p:graphicFrame>
      <p:sp>
        <p:nvSpPr>
          <p:cNvPr id="39" name="Heading The seven station gr"/>
          <p:cNvSpPr txBox="1"/>
          <p:nvPr/>
        </p:nvSpPr>
        <p:spPr>
          <a:xfrm>
            <a:off x="11750040" y="5806440"/>
            <a:ext cx="9418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600" b="1" i="0" u="sng">
                <a:solidFill>
                  <a:schemeClr val="tx2"/>
                </a:solidFill>
                <a:latin typeface="Arial"/>
                <a:cs typeface="Arial"/>
              </a:rPr>
              <a:t>THE SEVEN STATION GROUPS</a:t>
            </a:r>
          </a:p>
        </p:txBody>
      </p:sp>
      <p:sp>
        <p:nvSpPr>
          <p:cNvPr id="40" name="Text The seven groups des"/>
          <p:cNvSpPr txBox="1"/>
          <p:nvPr/>
        </p:nvSpPr>
        <p:spPr>
          <a:xfrm>
            <a:off x="11750040" y="6675120"/>
            <a:ext cx="9418320" cy="93624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The seven groups describe stations with different levels of bike availability, free docks and capacity.</a:t>
            </a:r>
          </a:p>
        </p:txBody>
      </p:sp>
      <p:pic>
        <p:nvPicPr>
          <p:cNvPr id="41" name="Figure 1" descr="Map of Dublin Bikes stations coloured by K-Medoids group, k=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0" y="7611363"/>
            <a:ext cx="9418320" cy="65432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2" name="Figure 1 caption"/>
          <p:cNvSpPr txBox="1"/>
          <p:nvPr/>
        </p:nvSpPr>
        <p:spPr>
          <a:xfrm>
            <a:off x="11750040" y="14227769"/>
            <a:ext cx="9418320" cy="708659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200" b="1" i="0">
                <a:solidFill>
                  <a:schemeClr val="tx1"/>
                </a:solidFill>
                <a:latin typeface="Arial"/>
                <a:cs typeface="Arial"/>
              </a:rPr>
              <a:t>Fig. 1. </a:t>
            </a:r>
            <a:r>
              <a:rPr sz="2200" b="0" i="1">
                <a:solidFill>
                  <a:schemeClr val="tx1"/>
                </a:solidFill>
                <a:latin typeface="Arial"/>
                <a:cs typeface="Arial"/>
              </a:rPr>
              <a:t>Station locations by K-Medoids group (k=7). Colours match the cluster key.</a:t>
            </a:r>
          </a:p>
        </p:txBody>
      </p:sp>
      <p:sp>
        <p:nvSpPr>
          <p:cNvPr id="43" name="Sub Cluster key"/>
          <p:cNvSpPr txBox="1"/>
          <p:nvPr/>
        </p:nvSpPr>
        <p:spPr>
          <a:xfrm>
            <a:off x="11750040" y="15119309"/>
            <a:ext cx="9418320" cy="4724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800" b="0" i="1" u="sng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Cluster key</a:t>
            </a:r>
          </a:p>
        </p:txBody>
      </p:sp>
      <p:sp>
        <p:nvSpPr>
          <p:cNvPr id="44" name="Cluster key"/>
          <p:cNvSpPr txBox="1"/>
          <p:nvPr/>
        </p:nvSpPr>
        <p:spPr>
          <a:xfrm>
            <a:off x="11750040" y="15664901"/>
            <a:ext cx="9418320" cy="2943351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>
              <a:spcAft>
                <a:spcPts val="400"/>
              </a:spcAft>
            </a:pPr>
            <a:r>
              <a:rPr sz="2400" b="0" i="0">
                <a:solidFill>
                  <a:srgbClr val="1F77B4"/>
                </a:solidFill>
                <a:latin typeface="Arial"/>
                <a:cs typeface="Arial"/>
              </a:rPr>
              <a:t>● </a:t>
            </a:r>
            <a:r>
              <a:rPr sz="2400" b="0" i="0">
                <a:solidFill>
                  <a:schemeClr val="tx1"/>
                </a:solidFill>
                <a:latin typeface="Arial"/>
                <a:cs typeface="Arial"/>
              </a:rPr>
              <a:t>C0 — Medium capacity; moderate availability (23 stations)</a:t>
            </a:r>
          </a:p>
          <a:p>
            <a:pPr>
              <a:spcAft>
                <a:spcPts val="400"/>
              </a:spcAft>
            </a:pPr>
            <a:r>
              <a:rPr sz="2400" b="0" i="0">
                <a:solidFill>
                  <a:srgbClr val="FF7F0E"/>
                </a:solidFill>
                <a:latin typeface="Arial"/>
                <a:cs typeface="Arial"/>
              </a:rPr>
              <a:t>● </a:t>
            </a:r>
            <a:r>
              <a:rPr sz="2400" b="0" i="0">
                <a:solidFill>
                  <a:schemeClr val="tx1"/>
                </a:solidFill>
                <a:latin typeface="Arial"/>
                <a:cs typeface="Arial"/>
              </a:rPr>
              <a:t>C1 — Low capacity; very few bikes (10 stations)</a:t>
            </a:r>
          </a:p>
          <a:p>
            <a:pPr>
              <a:spcAft>
                <a:spcPts val="400"/>
              </a:spcAft>
            </a:pPr>
            <a:r>
              <a:rPr sz="2400" b="0" i="0">
                <a:solidFill>
                  <a:srgbClr val="D62728"/>
                </a:solidFill>
                <a:latin typeface="Arial"/>
                <a:cs typeface="Arial"/>
              </a:rPr>
              <a:t>● </a:t>
            </a:r>
            <a:r>
              <a:rPr sz="2400" b="0" i="0">
                <a:solidFill>
                  <a:schemeClr val="tx1"/>
                </a:solidFill>
                <a:latin typeface="Arial"/>
                <a:cs typeface="Arial"/>
              </a:rPr>
              <a:t>C2 — High capacity; many free docks (25 stations)</a:t>
            </a:r>
          </a:p>
          <a:p>
            <a:pPr>
              <a:spcAft>
                <a:spcPts val="400"/>
              </a:spcAft>
            </a:pPr>
            <a:r>
              <a:rPr sz="2400" b="0" i="0">
                <a:solidFill>
                  <a:srgbClr val="8C564B"/>
                </a:solidFill>
                <a:latin typeface="Arial"/>
                <a:cs typeface="Arial"/>
              </a:rPr>
              <a:t>● </a:t>
            </a:r>
            <a:r>
              <a:rPr sz="2400" b="0" i="0">
                <a:solidFill>
                  <a:schemeClr val="tx1"/>
                </a:solidFill>
                <a:latin typeface="Arial"/>
                <a:cs typeface="Arial"/>
              </a:rPr>
              <a:t>C3 — Low capacity; fewer free docks (15 stations)</a:t>
            </a:r>
          </a:p>
          <a:p>
            <a:pPr>
              <a:spcAft>
                <a:spcPts val="400"/>
              </a:spcAft>
            </a:pPr>
            <a:r>
              <a:rPr sz="2400" b="0" i="0">
                <a:solidFill>
                  <a:srgbClr val="E377C2"/>
                </a:solidFill>
                <a:latin typeface="Arial"/>
                <a:cs typeface="Arial"/>
              </a:rPr>
              <a:t>● </a:t>
            </a:r>
            <a:r>
              <a:rPr sz="2400" b="0" i="0">
                <a:solidFill>
                  <a:schemeClr val="tx1"/>
                </a:solidFill>
                <a:latin typeface="Arial"/>
                <a:cs typeface="Arial"/>
              </a:rPr>
              <a:t>C4 — High capacity; many bikes available (6 stations)</a:t>
            </a:r>
          </a:p>
          <a:p>
            <a:pPr>
              <a:spcAft>
                <a:spcPts val="400"/>
              </a:spcAft>
            </a:pPr>
            <a:r>
              <a:rPr sz="2400" b="0" i="0">
                <a:solidFill>
                  <a:srgbClr val="BCBD22"/>
                </a:solidFill>
                <a:latin typeface="Arial"/>
                <a:cs typeface="Arial"/>
              </a:rPr>
              <a:t>● </a:t>
            </a:r>
            <a:r>
              <a:rPr sz="2400" b="0" i="0">
                <a:solidFill>
                  <a:schemeClr val="tx1"/>
                </a:solidFill>
                <a:latin typeface="Arial"/>
                <a:cs typeface="Arial"/>
              </a:rPr>
              <a:t>C5 — High capacity; moderate bike availability (15 stations)</a:t>
            </a:r>
          </a:p>
          <a:p>
            <a:pPr>
              <a:spcAft>
                <a:spcPts val="400"/>
              </a:spcAft>
            </a:pPr>
            <a:r>
              <a:rPr sz="2400" b="0" i="0">
                <a:solidFill>
                  <a:srgbClr val="17BECF"/>
                </a:solidFill>
                <a:latin typeface="Arial"/>
                <a:cs typeface="Arial"/>
              </a:rPr>
              <a:t>● </a:t>
            </a:r>
            <a:r>
              <a:rPr sz="2400" b="0" i="0">
                <a:solidFill>
                  <a:schemeClr val="tx1"/>
                </a:solidFill>
                <a:latin typeface="Arial"/>
                <a:cs typeface="Arial"/>
              </a:rPr>
              <a:t>C6 — Medium capacity; more free docks (20 stations)</a:t>
            </a:r>
          </a:p>
        </p:txBody>
      </p:sp>
      <p:pic>
        <p:nvPicPr>
          <p:cNvPr id="45" name="Figure 2" descr="Bar chart of average bikes available and free docks per station for each K-Medoids cluster, C0 to C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18699693"/>
            <a:ext cx="9418320" cy="42764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6" name="Figure 2 caption"/>
          <p:cNvSpPr txBox="1"/>
          <p:nvPr/>
        </p:nvSpPr>
        <p:spPr>
          <a:xfrm>
            <a:off x="11750040" y="23049306"/>
            <a:ext cx="9418320" cy="3817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200" b="1" i="0">
                <a:solidFill>
                  <a:schemeClr val="tx1"/>
                </a:solidFill>
                <a:latin typeface="Arial"/>
                <a:cs typeface="Arial"/>
              </a:rPr>
              <a:t>Fig. 2. </a:t>
            </a:r>
            <a:r>
              <a:rPr sz="2200" b="0" i="1">
                <a:solidFill>
                  <a:schemeClr val="tx1"/>
                </a:solidFill>
                <a:latin typeface="Arial"/>
                <a:cs typeface="Arial"/>
              </a:rPr>
              <a:t>Average bikes and free docks for each K-Medoids group.</a:t>
            </a:r>
          </a:p>
        </p:txBody>
      </p:sp>
      <p:sp>
        <p:nvSpPr>
          <p:cNvPr id="47" name="Sub A few examples from "/>
          <p:cNvSpPr txBox="1"/>
          <p:nvPr/>
        </p:nvSpPr>
        <p:spPr>
          <a:xfrm>
            <a:off x="11750040" y="23613948"/>
            <a:ext cx="9418320" cy="4724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800" b="0" i="1" u="sng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A few examples from the groups</a:t>
            </a:r>
          </a:p>
        </p:txBody>
      </p:sp>
      <p:sp>
        <p:nvSpPr>
          <p:cNvPr id="48" name="Bullet"/>
          <p:cNvSpPr txBox="1"/>
          <p:nvPr/>
        </p:nvSpPr>
        <p:spPr>
          <a:xfrm>
            <a:off x="11750040" y="24159540"/>
            <a:ext cx="9418320" cy="451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marL="365760" indent="-365760">
              <a:tabLst>
                <a:tab pos="365760" algn="l"/>
              </a:tabLst>
            </a:pPr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•	C1 averaged 4.18 bikes available.</a:t>
            </a:r>
          </a:p>
        </p:txBody>
      </p:sp>
      <p:sp>
        <p:nvSpPr>
          <p:cNvPr id="49" name="Bullet"/>
          <p:cNvSpPr txBox="1"/>
          <p:nvPr/>
        </p:nvSpPr>
        <p:spPr>
          <a:xfrm>
            <a:off x="11750040" y="24611406"/>
            <a:ext cx="9418320" cy="451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marL="365760" indent="-365760">
              <a:tabLst>
                <a:tab pos="365760" algn="l"/>
              </a:tabLst>
            </a:pPr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•	C4 averaged 23.09 bikes available.</a:t>
            </a:r>
          </a:p>
        </p:txBody>
      </p:sp>
      <p:sp>
        <p:nvSpPr>
          <p:cNvPr id="50" name="Bullet"/>
          <p:cNvSpPr txBox="1"/>
          <p:nvPr/>
        </p:nvSpPr>
        <p:spPr>
          <a:xfrm>
            <a:off x="11750040" y="25063272"/>
            <a:ext cx="9418320" cy="838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marL="365760" indent="-365760">
              <a:tabLst>
                <a:tab pos="365760" algn="l"/>
              </a:tabLst>
            </a:pPr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•	C2 averaged 30.38 free docks, with a capacity of around 40.</a:t>
            </a:r>
          </a:p>
        </p:txBody>
      </p:sp>
      <p:sp>
        <p:nvSpPr>
          <p:cNvPr id="51" name="Heading Daily pattern and po"/>
          <p:cNvSpPr txBox="1"/>
          <p:nvPr/>
        </p:nvSpPr>
        <p:spPr>
          <a:xfrm>
            <a:off x="22722840" y="5806440"/>
            <a:ext cx="9418320" cy="655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400" b="1" i="0" u="sng">
                <a:solidFill>
                  <a:schemeClr val="tx2"/>
                </a:solidFill>
                <a:latin typeface="Arial"/>
                <a:cs typeface="Arial"/>
              </a:rPr>
              <a:t>DAILY PATTERN AND POSSIBLE ANOMALY</a:t>
            </a:r>
          </a:p>
        </p:txBody>
      </p:sp>
      <p:sp>
        <p:nvSpPr>
          <p:cNvPr id="52" name="Text Daily average availa"/>
          <p:cNvSpPr txBox="1"/>
          <p:nvPr/>
        </p:nvSpPr>
        <p:spPr>
          <a:xfrm>
            <a:off x="22722840" y="6644640"/>
            <a:ext cx="9418320" cy="170891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Daily average availability stayed around 11.4–12.5, without a clear long-term rise or fall. Weekend averages were a little higher, but lag-7 autocorrelation was only 0.20, so the weekly relationship looked weak.</a:t>
            </a:r>
          </a:p>
        </p:txBody>
      </p:sp>
      <p:sp>
        <p:nvSpPr>
          <p:cNvPr id="53" name="Text On 26 October 2025, "/>
          <p:cNvSpPr txBox="1"/>
          <p:nvPr/>
        </p:nvSpPr>
        <p:spPr>
          <a:xfrm>
            <a:off x="22722840" y="8353552"/>
            <a:ext cx="9418320" cy="170891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On 26 October 2025, the mean fell to 11.385 and the decomposition residual was −0.481. Clocks went back that day in Ireland, but the data cannot show that this caused the drop (Citizens Information, 2025).</a:t>
            </a:r>
          </a:p>
        </p:txBody>
      </p:sp>
      <p:sp>
        <p:nvSpPr>
          <p:cNvPr id="54" name="Anomaly callout"/>
          <p:cNvSpPr/>
          <p:nvPr/>
        </p:nvSpPr>
        <p:spPr>
          <a:xfrm>
            <a:off x="22722840" y="10062464"/>
            <a:ext cx="9418320" cy="11582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19050">
            <a:solidFill>
              <a:srgbClr val="B9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600" b="1" i="0">
                <a:solidFill>
                  <a:srgbClr val="8E2B2B"/>
                </a:solidFill>
                <a:latin typeface="Arial"/>
                <a:cs typeface="Arial"/>
              </a:rPr>
              <a:t>26 October 2025: a possible anomaly; the cause is unknown.</a:t>
            </a:r>
          </a:p>
        </p:txBody>
      </p:sp>
      <p:pic>
        <p:nvPicPr>
          <p:cNvPr id="55" name="Figure 3" descr="Line chart of daily average bike availability from May to October 2025, with 26 October marked at 11.38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7685" y="11449304"/>
            <a:ext cx="4988629" cy="420624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6" name="Figure 3 caption"/>
          <p:cNvSpPr txBox="1"/>
          <p:nvPr/>
        </p:nvSpPr>
        <p:spPr>
          <a:xfrm>
            <a:off x="22722840" y="15728696"/>
            <a:ext cx="9418320" cy="3817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200" b="1" i="0">
                <a:solidFill>
                  <a:schemeClr val="tx1"/>
                </a:solidFill>
                <a:latin typeface="Arial"/>
                <a:cs typeface="Arial"/>
              </a:rPr>
              <a:t>Fig. 3. </a:t>
            </a:r>
            <a:r>
              <a:rPr sz="2200" b="0" i="1">
                <a:solidFill>
                  <a:schemeClr val="tx1"/>
                </a:solidFill>
                <a:latin typeface="Arial"/>
                <a:cs typeface="Arial"/>
              </a:rPr>
              <a:t>Daily average bike availability, with 26 October marked.</a:t>
            </a:r>
          </a:p>
        </p:txBody>
      </p:sp>
      <p:sp>
        <p:nvSpPr>
          <p:cNvPr id="57" name="Heading Forecasting: the sim"/>
          <p:cNvSpPr txBox="1"/>
          <p:nvPr/>
        </p:nvSpPr>
        <p:spPr>
          <a:xfrm>
            <a:off x="22722840" y="16430497"/>
            <a:ext cx="9418320" cy="6248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200" b="1" i="0" u="sng">
                <a:solidFill>
                  <a:schemeClr val="tx2"/>
                </a:solidFill>
                <a:latin typeface="Arial"/>
                <a:cs typeface="Arial"/>
              </a:rPr>
              <a:t>FORECASTING: THE SIMPLE BASELINE WON</a:t>
            </a:r>
          </a:p>
        </p:txBody>
      </p:sp>
      <p:sp>
        <p:nvSpPr>
          <p:cNvPr id="58" name="Text The ADF test on the "/>
          <p:cNvSpPr txBox="1"/>
          <p:nvPr/>
        </p:nvSpPr>
        <p:spPr>
          <a:xfrm>
            <a:off x="22722840" y="17238217"/>
            <a:ext cx="9418320" cy="93624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The ADF test on the training series gave p = 0.215. After first differencing, the p-value was 0.000247, so I also tested d = 1.</a:t>
            </a:r>
          </a:p>
        </p:txBody>
      </p:sp>
      <p:sp>
        <p:nvSpPr>
          <p:cNvPr id="59" name="Text The PACF suggested t"/>
          <p:cNvSpPr txBox="1"/>
          <p:nvPr/>
        </p:nvSpPr>
        <p:spPr>
          <a:xfrm>
            <a:off x="22722840" y="18174461"/>
            <a:ext cx="9418320" cy="1322577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The PACF suggested trying p = 1 and the ACF suggested q = 1, although neither plot had a clear cut-off. All five methods used the same 30-day test set.</a:t>
            </a:r>
          </a:p>
        </p:txBody>
      </p:sp>
      <p:sp>
        <p:nvSpPr>
          <p:cNvPr id="60" name="Text The mean baseline ha"/>
          <p:cNvSpPr txBox="1"/>
          <p:nvPr/>
        </p:nvSpPr>
        <p:spPr>
          <a:xfrm>
            <a:off x="22722840" y="19497039"/>
            <a:ext cx="9418320" cy="170891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The mean baseline had the lowest errors. The Ljung–Box test for ARIMA(1, 0, 1) gave p = 0.0025, so autocorrelation remained (Iqbal, 2026a, 2026b; statsmodels developers, n.d.a).</a:t>
            </a:r>
          </a:p>
        </p:txBody>
      </p:sp>
      <p:sp>
        <p:nvSpPr>
          <p:cNvPr id="61" name="Table 2. caption"/>
          <p:cNvSpPr txBox="1"/>
          <p:nvPr/>
        </p:nvSpPr>
        <p:spPr>
          <a:xfrm>
            <a:off x="22722840" y="21205951"/>
            <a:ext cx="9418320" cy="786383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400" b="1" i="0">
                <a:solidFill>
                  <a:schemeClr val="tx1"/>
                </a:solidFill>
                <a:latin typeface="Arial"/>
                <a:cs typeface="Arial"/>
              </a:rPr>
              <a:t>Table 2. </a:t>
            </a:r>
            <a:r>
              <a:rPr sz="2400" b="0" i="0">
                <a:solidFill>
                  <a:schemeClr val="tx1"/>
                </a:solidFill>
                <a:latin typeface="Arial"/>
                <a:cs typeface="Arial"/>
              </a:rPr>
              <a:t>MAE and RMSE for the five methods on the 30-day test set.</a:t>
            </a:r>
          </a:p>
        </p:txBody>
      </p:sp>
      <p:graphicFrame>
        <p:nvGraphicFramePr>
          <p:cNvPr id="62" name="Table 2."/>
          <p:cNvGraphicFramePr>
            <a:graphicFrameLocks noGrp="1"/>
          </p:cNvGraphicFramePr>
          <p:nvPr/>
        </p:nvGraphicFramePr>
        <p:xfrm>
          <a:off x="22722840" y="22038056"/>
          <a:ext cx="9418318" cy="30175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062804"/>
                <a:gridCol w="2677757"/>
                <a:gridCol w="267775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Model</a:t>
                      </a:r>
                    </a:p>
                  </a:txBody>
                  <a:tcPr anchor="ctr" marL="91440" marR="91440" marT="27432" marB="27432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MAE</a:t>
                      </a:r>
                    </a:p>
                  </a:txBody>
                  <a:tcPr anchor="ctr" marL="91440" marR="91440" marT="27432" marB="27432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RMSE</a:t>
                      </a:r>
                    </a:p>
                  </a:txBody>
                  <a:tcPr anchor="ctr" marL="91440" marR="91440" marT="27432" marB="27432"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Mean baseline</a:t>
                      </a:r>
                    </a:p>
                  </a:txBody>
                  <a:tcPr anchor="ctr" marL="91440" marR="91440" marT="27432" marB="27432">
                    <a:solidFill>
                      <a:srgbClr val="D9F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0.1804</a:t>
                      </a:r>
                    </a:p>
                  </a:txBody>
                  <a:tcPr anchor="ctr" marL="91440" marR="91440" marT="27432" marB="27432">
                    <a:solidFill>
                      <a:srgbClr val="D9F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0.2189</a:t>
                      </a:r>
                    </a:p>
                  </a:txBody>
                  <a:tcPr anchor="ctr" marL="91440" marR="91440" marT="27432" marB="27432">
                    <a:solidFill>
                      <a:srgbClr val="D9F0C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ARIMA (1, 0, 1)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0.1896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0.2267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ARIMA (1, 0, 0)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0.1922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0.2307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ARIMA (1, 1, 1)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0.2168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0.2606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SARIMA (period 7)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0.3106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0.3497</a:t>
                      </a:r>
                    </a:p>
                  </a:txBody>
                  <a:tcPr anchor="ctr" marL="91440" marR="91440" marT="27432" marB="27432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pic>
        <p:nvPicPr>
          <p:cNvPr id="63" name="Figure 4" descr="Line chart of actual daily average bike availability and ARIMA(1, 0, 1) forecasts over the 30-day test period in Octob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32160" y="25329896"/>
            <a:ext cx="7599680" cy="40233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4" name="Figure 4 caption"/>
          <p:cNvSpPr txBox="1"/>
          <p:nvPr/>
        </p:nvSpPr>
        <p:spPr>
          <a:xfrm>
            <a:off x="22722840" y="29426407"/>
            <a:ext cx="9418320" cy="708659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200" b="1" i="0">
                <a:solidFill>
                  <a:schemeClr val="tx1"/>
                </a:solidFill>
                <a:latin typeface="Arial"/>
                <a:cs typeface="Arial"/>
              </a:rPr>
              <a:t>Fig. 4. </a:t>
            </a:r>
            <a:r>
              <a:rPr sz="2200" b="0" i="1">
                <a:solidFill>
                  <a:schemeClr val="tx1"/>
                </a:solidFill>
                <a:latin typeface="Arial"/>
                <a:cs typeface="Arial"/>
              </a:rPr>
              <a:t>Actual daily average bike availability compared with forecasts from the ARIMA(1, 0, 1) model over the 30-day test period.</a:t>
            </a:r>
          </a:p>
        </p:txBody>
      </p:sp>
      <p:sp>
        <p:nvSpPr>
          <p:cNvPr id="65" name="Text Lower MAE and RMSE m"/>
          <p:cNvSpPr txBox="1"/>
          <p:nvPr/>
        </p:nvSpPr>
        <p:spPr>
          <a:xfrm>
            <a:off x="22722840" y="30317947"/>
            <a:ext cx="9418320" cy="93624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Lower MAE and RMSE mean smaller forecast errors. The mean baseline beat all four more complex models.</a:t>
            </a:r>
          </a:p>
        </p:txBody>
      </p:sp>
      <p:sp>
        <p:nvSpPr>
          <p:cNvPr id="66" name="Heading What I found, what i"/>
          <p:cNvSpPr txBox="1"/>
          <p:nvPr/>
        </p:nvSpPr>
        <p:spPr>
          <a:xfrm>
            <a:off x="33695640" y="5806440"/>
            <a:ext cx="941832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200" b="1" i="0" u="sng">
                <a:solidFill>
                  <a:schemeClr val="tx2"/>
                </a:solidFill>
                <a:latin typeface="Arial"/>
                <a:cs typeface="Arial"/>
              </a:rPr>
              <a:t>WHAT I FOUND, WHAT IS MISSING, AND WHAT I WOULD TRY NEXT</a:t>
            </a:r>
          </a:p>
        </p:txBody>
      </p:sp>
      <p:sp>
        <p:nvSpPr>
          <p:cNvPr id="67" name="Sub Main takeaway"/>
          <p:cNvSpPr txBox="1"/>
          <p:nvPr/>
        </p:nvSpPr>
        <p:spPr>
          <a:xfrm>
            <a:off x="33695640" y="7101839"/>
            <a:ext cx="9418320" cy="4724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800" b="0" i="1" u="sng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Main takeaway</a:t>
            </a:r>
          </a:p>
        </p:txBody>
      </p:sp>
      <p:sp>
        <p:nvSpPr>
          <p:cNvPr id="68" name="Text K-Medoids with k=7 g"/>
          <p:cNvSpPr txBox="1"/>
          <p:nvPr/>
        </p:nvSpPr>
        <p:spPr>
          <a:xfrm>
            <a:off x="33695640" y="7647432"/>
            <a:ext cx="9418320" cy="1322577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K-Medoids with k=7 gave every station a profile. For forecasting, the mean baseline beat all four time-series models.</a:t>
            </a:r>
          </a:p>
        </p:txBody>
      </p:sp>
      <p:sp>
        <p:nvSpPr>
          <p:cNvPr id="69" name="Sub Limitations"/>
          <p:cNvSpPr txBox="1"/>
          <p:nvPr/>
        </p:nvSpPr>
        <p:spPr>
          <a:xfrm>
            <a:off x="33695640" y="8970010"/>
            <a:ext cx="9418320" cy="4724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800" b="0" i="1" u="sng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Limitations</a:t>
            </a:r>
          </a:p>
        </p:txBody>
      </p:sp>
      <p:sp>
        <p:nvSpPr>
          <p:cNvPr id="70" name="Text Bikes, free docks an"/>
          <p:cNvSpPr txBox="1"/>
          <p:nvPr/>
        </p:nvSpPr>
        <p:spPr>
          <a:xfrm>
            <a:off x="33695640" y="9515601"/>
            <a:ext cx="9418320" cy="170891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Bikes, free docks and capacity overlap. Daily means hide busy hours, and availability is not trip demand. The data covers six months, and the 0/0 records and the 26 October drop are unclear.</a:t>
            </a:r>
          </a:p>
        </p:txBody>
      </p:sp>
      <p:sp>
        <p:nvSpPr>
          <p:cNvPr id="71" name="Sub What I would try nex"/>
          <p:cNvSpPr txBox="1"/>
          <p:nvPr/>
        </p:nvSpPr>
        <p:spPr>
          <a:xfrm>
            <a:off x="33695640" y="11224514"/>
            <a:ext cx="9418320" cy="4724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800" b="0" i="1" u="sng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What I would try next</a:t>
            </a:r>
          </a:p>
        </p:txBody>
      </p:sp>
      <p:sp>
        <p:nvSpPr>
          <p:cNvPr id="72" name="Text Hourly data, Holt-Wi"/>
          <p:cNvSpPr txBox="1"/>
          <p:nvPr/>
        </p:nvSpPr>
        <p:spPr>
          <a:xfrm>
            <a:off x="33695640" y="11770106"/>
            <a:ext cx="9418320" cy="1322577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2600" b="0" i="0">
                <a:solidFill>
                  <a:schemeClr val="tx1"/>
                </a:solidFill>
                <a:latin typeface="Arial"/>
                <a:cs typeface="Arial"/>
              </a:rPr>
              <a:t>Hourly data, Holt-Winters or Prophet, and weather, events or trip counts. Staff could review stations with few bikes or many free docks before rebalancing.</a:t>
            </a:r>
          </a:p>
        </p:txBody>
      </p:sp>
      <p:sp>
        <p:nvSpPr>
          <p:cNvPr id="73" name="Heading References"/>
          <p:cNvSpPr txBox="1"/>
          <p:nvPr/>
        </p:nvSpPr>
        <p:spPr>
          <a:xfrm>
            <a:off x="33695640" y="13458444"/>
            <a:ext cx="9418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600" b="1" i="0" u="sng">
                <a:solidFill>
                  <a:schemeClr val="tx2"/>
                </a:solidFill>
                <a:latin typeface="Arial"/>
                <a:cs typeface="Arial"/>
              </a:rPr>
              <a:t>REFERENCES</a:t>
            </a:r>
          </a:p>
        </p:txBody>
      </p:sp>
      <p:sp>
        <p:nvSpPr>
          <p:cNvPr id="74" name="Text Citizens Information"/>
          <p:cNvSpPr txBox="1"/>
          <p:nvPr/>
        </p:nvSpPr>
        <p:spPr>
          <a:xfrm>
            <a:off x="33695640" y="14327124"/>
            <a:ext cx="9418320" cy="1203071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Citizens Information (2025) </a:t>
            </a:r>
            <a:r>
              <a:rPr sz="1900" b="0" i="1">
                <a:solidFill>
                  <a:schemeClr val="tx1"/>
                </a:solidFill>
                <a:latin typeface="Arial"/>
                <a:cs typeface="Arial"/>
              </a:rPr>
              <a:t>When do clocks change in Ireland?</a:t>
            </a:r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 Available at: https://www.citizensinformation.ie/en/government-in-ireland/how-government-works/government-records-and-statistics/when-do-clocks-change/ (Accessed: 13 October 2026).</a:t>
            </a:r>
          </a:p>
        </p:txBody>
      </p:sp>
      <p:sp>
        <p:nvSpPr>
          <p:cNvPr id="75" name="Text Dublin City Council "/>
          <p:cNvSpPr txBox="1"/>
          <p:nvPr/>
        </p:nvSpPr>
        <p:spPr>
          <a:xfrm>
            <a:off x="33695640" y="15530194"/>
            <a:ext cx="9418320" cy="1203071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Dublin City Council (n.d.) </a:t>
            </a:r>
            <a:r>
              <a:rPr sz="1900" b="0" i="1">
                <a:solidFill>
                  <a:schemeClr val="tx1"/>
                </a:solidFill>
                <a:latin typeface="Arial"/>
                <a:cs typeface="Arial"/>
              </a:rPr>
              <a:t>Dublinbikes API DCC</a:t>
            </a:r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. Smart Dublin Open Data Portal. Available at: https://data.smartdublin.ie/dataset/dublinbikes-api (Accessed: 25 October 2026).</a:t>
            </a:r>
          </a:p>
        </p:txBody>
      </p:sp>
      <p:sp>
        <p:nvSpPr>
          <p:cNvPr id="76" name="Text Iqbal, M. (2026a) ‘A"/>
          <p:cNvSpPr txBox="1"/>
          <p:nvPr/>
        </p:nvSpPr>
        <p:spPr>
          <a:xfrm>
            <a:off x="33695640" y="16733266"/>
            <a:ext cx="9418320" cy="1203071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Iqbal, M. (2026a) ‘ARIMA and SARIMA Time Series Models’, Machine Learning for Business, HDip in Science in Data Analytics for Business, CCT College Dublin. Lecture slides.</a:t>
            </a:r>
          </a:p>
        </p:txBody>
      </p:sp>
      <p:sp>
        <p:nvSpPr>
          <p:cNvPr id="77" name="Text Iqbal, M. (2026b) ‘A"/>
          <p:cNvSpPr txBox="1"/>
          <p:nvPr/>
        </p:nvSpPr>
        <p:spPr>
          <a:xfrm>
            <a:off x="33695640" y="17936337"/>
            <a:ext cx="9418320" cy="92075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Iqbal, M. (2026b) ‘ARMA Time Series Model’, Machine Learning for Business, HDip in Science in Data Analytics for Business, CCT College Dublin. Lecture slides.</a:t>
            </a:r>
          </a:p>
        </p:txBody>
      </p:sp>
      <p:sp>
        <p:nvSpPr>
          <p:cNvPr id="78" name="Text Iqbal, M. (2026c) ‘I"/>
          <p:cNvSpPr txBox="1"/>
          <p:nvPr/>
        </p:nvSpPr>
        <p:spPr>
          <a:xfrm>
            <a:off x="33695640" y="18857087"/>
            <a:ext cx="9418320" cy="92075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Iqbal, M. (2026c) ‘Introduction to Clustering’, Machine Learning for Business, HDip in Science in Data Analytics for Business, CCT College Dublin. Lecture slides.</a:t>
            </a:r>
          </a:p>
        </p:txBody>
      </p:sp>
      <p:sp>
        <p:nvSpPr>
          <p:cNvPr id="79" name="Text Novikov, A. (2019) ‘"/>
          <p:cNvSpPr txBox="1"/>
          <p:nvPr/>
        </p:nvSpPr>
        <p:spPr>
          <a:xfrm>
            <a:off x="33695640" y="19777837"/>
            <a:ext cx="9418320" cy="92075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Novikov, A. (2019) ‘PyClustering: Data Mining Library’, </a:t>
            </a:r>
            <a:r>
              <a:rPr sz="1900" b="0" i="1">
                <a:solidFill>
                  <a:schemeClr val="tx1"/>
                </a:solidFill>
                <a:latin typeface="Arial"/>
                <a:cs typeface="Arial"/>
              </a:rPr>
              <a:t>Journal of Open Source Software</a:t>
            </a:r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, 4(36), p. 1230.</a:t>
            </a:r>
          </a:p>
        </p:txBody>
      </p:sp>
      <p:sp>
        <p:nvSpPr>
          <p:cNvPr id="80" name="Text pandas (2026) pandas"/>
          <p:cNvSpPr txBox="1"/>
          <p:nvPr/>
        </p:nvSpPr>
        <p:spPr>
          <a:xfrm>
            <a:off x="33695640" y="20698586"/>
            <a:ext cx="9418320" cy="1203071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pandas (2026) </a:t>
            </a:r>
            <a:r>
              <a:rPr sz="1900" b="0" i="1">
                <a:solidFill>
                  <a:schemeClr val="tx1"/>
                </a:solidFill>
                <a:latin typeface="Arial"/>
                <a:cs typeface="Arial"/>
              </a:rPr>
              <a:t>pandas.to_datetime</a:t>
            </a:r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. Available at: https://pandas.pydata.org/pandas-docs/stable/reference/api/pandas.to_datetime.html (Accessed: 21 October 2026).</a:t>
            </a:r>
          </a:p>
        </p:txBody>
      </p:sp>
      <p:sp>
        <p:nvSpPr>
          <p:cNvPr id="81" name="Text scikit-learn develop"/>
          <p:cNvSpPr txBox="1"/>
          <p:nvPr/>
        </p:nvSpPr>
        <p:spPr>
          <a:xfrm>
            <a:off x="33695640" y="21901658"/>
            <a:ext cx="9418320" cy="92075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scikit-learn developers (n.d.a) </a:t>
            </a:r>
            <a:r>
              <a:rPr sz="1900" b="0" i="1">
                <a:solidFill>
                  <a:schemeClr val="tx1"/>
                </a:solidFill>
                <a:latin typeface="Arial"/>
                <a:cs typeface="Arial"/>
              </a:rPr>
              <a:t>Clustering</a:t>
            </a:r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. scikit-learn documentation. Available at: https://scikit-learn.org/stable/modules/clustering.html (Accessed: 24 October 2026).</a:t>
            </a:r>
          </a:p>
        </p:txBody>
      </p:sp>
      <p:sp>
        <p:nvSpPr>
          <p:cNvPr id="82" name="Text scikit-learn develop"/>
          <p:cNvSpPr txBox="1"/>
          <p:nvPr/>
        </p:nvSpPr>
        <p:spPr>
          <a:xfrm>
            <a:off x="33695640" y="22822407"/>
            <a:ext cx="9418320" cy="14853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scikit-learn developers (n.d.b) </a:t>
            </a:r>
            <a:r>
              <a:rPr sz="1900" b="0" i="1">
                <a:solidFill>
                  <a:schemeClr val="tx1"/>
                </a:solidFill>
                <a:latin typeface="Arial"/>
                <a:cs typeface="Arial"/>
              </a:rPr>
              <a:t>davies_bouldin_score</a:t>
            </a:r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. scikit-learn documentation. Available at: https://scikit-learn.org/stable/modules/generated/sklearn.metrics.davies_bouldin_score.html (Accessed: 24 October 2026).</a:t>
            </a:r>
          </a:p>
        </p:txBody>
      </p:sp>
      <p:sp>
        <p:nvSpPr>
          <p:cNvPr id="83" name="Text scikit-learn develop"/>
          <p:cNvSpPr txBox="1"/>
          <p:nvPr/>
        </p:nvSpPr>
        <p:spPr>
          <a:xfrm>
            <a:off x="33695640" y="24307799"/>
            <a:ext cx="9418320" cy="14853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scikit-learn developers (n.d.c) </a:t>
            </a:r>
            <a:r>
              <a:rPr sz="1900" b="0" i="1">
                <a:solidFill>
                  <a:schemeClr val="tx1"/>
                </a:solidFill>
                <a:latin typeface="Arial"/>
                <a:cs typeface="Arial"/>
              </a:rPr>
              <a:t>silhouette_score</a:t>
            </a:r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. scikit-learn documentation. Available at: https://scikit-learn.org/stable/modules/generated/sklearn.metrics.silhouette_score.html (Accessed: 24 October 2026).</a:t>
            </a:r>
          </a:p>
        </p:txBody>
      </p:sp>
      <p:sp>
        <p:nvSpPr>
          <p:cNvPr id="84" name="Text statsmodels develope"/>
          <p:cNvSpPr txBox="1"/>
          <p:nvPr/>
        </p:nvSpPr>
        <p:spPr>
          <a:xfrm>
            <a:off x="33695640" y="25793191"/>
            <a:ext cx="9418320" cy="14853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statsmodels developers (n.d.a) </a:t>
            </a:r>
            <a:r>
              <a:rPr sz="1900" b="0" i="1">
                <a:solidFill>
                  <a:schemeClr val="tx1"/>
                </a:solidFill>
                <a:latin typeface="Arial"/>
                <a:cs typeface="Arial"/>
              </a:rPr>
              <a:t>statsmodels.stats.diagnostic.acorr_ljungbox</a:t>
            </a:r>
            <a:r>
              <a:rPr sz="1900" b="0" i="0">
                <a:solidFill>
                  <a:schemeClr val="tx1"/>
                </a:solidFill>
                <a:latin typeface="Arial"/>
                <a:cs typeface="Arial"/>
              </a:rPr>
              <a:t>. statsmodels documentation. Available at: https://www.statsmodels.org/stable/generated/statsmodels.stats.diagnostic.acorr_ljungbox.html (Accessed: 25 October 2026).</a:t>
            </a:r>
          </a:p>
        </p:txBody>
      </p:sp>
    </p:spTree>
    <p:extLst>
      <p:ext uri="{BB962C8B-B14F-4D97-AF65-F5344CB8AC3E}">
        <p14:creationId xmlns:p14="http://schemas.microsoft.com/office/powerpoint/2010/main" val="3160527046"/>
      </p:ext>
    </p:extLst>
  </p:cSld>
  <p:clrMapOvr>
    <a:masterClrMapping/>
  </p:clrMapOvr>
</p:sld>
</file>

<file path=ppt/theme/theme1.xml><?xml version="1.0" encoding="utf-8"?>
<a:theme xmlns:a="http://schemas.openxmlformats.org/drawingml/2006/main" name="36x48-Template-V2b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lassic 3 Columns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lassic - Wide Center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36x48-Template-V2b</Template>
  <TotalTime>3451</TotalTime>
  <Words>1587</Words>
  <Application>Microsoft Office PowerPoint</Application>
  <PresentationFormat>Custom</PresentationFormat>
  <Paragraphs>102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Times New Roman</vt:lpstr>
      <vt:lpstr>Trebuchet MS</vt:lpstr>
      <vt:lpstr>36x48-Template-V2b</vt:lpstr>
      <vt:lpstr>1_Classic 3 Columns</vt:lpstr>
      <vt:lpstr>Classic - Wide Center</vt:lpstr>
      <vt:lpstr>Image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CanterburyMedia</dc:creator>
  <dc:description>This template is the property of PosterPresentations.com. Call us if you need help with this poster template._x000d_
1-866-649-3004           _x000d_
 (c)PosterPresentations.com</dc:description>
  <cp:lastModifiedBy>Graham Glanville</cp:lastModifiedBy>
  <cp:revision>120</cp:revision>
  <dcterms:created xsi:type="dcterms:W3CDTF">2012-02-03T19:11:35Z</dcterms:created>
  <dcterms:modified xsi:type="dcterms:W3CDTF">2021-03-31T08:26:18Z</dcterms:modified>
</cp:coreProperties>
</file>